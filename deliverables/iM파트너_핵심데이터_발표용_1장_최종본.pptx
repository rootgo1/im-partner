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04fddf7ea14edb" /><Relationship Type="http://schemas.openxmlformats.org/officeDocument/2006/relationships/extended-properties" Target="/docProps/app.xml" Id="Rda4228303b1f4d87" /><Relationship Type="http://schemas.openxmlformats.org/officeDocument/2006/relationships/officeDocument" Target="/ppt/presentation.xml" Id="R6466eb7c718f4647"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ad1584d4f24a4d0b"/>
  </p:sldMasterIdLst>
  <p:notesMasterIdLst>
    <p:notesMasterId xmlns:r="http://schemas.openxmlformats.org/officeDocument/2006/relationships" r:id="Ref8506101b814f58"/>
  </p:notesMasterIdLst>
  <p:sldIdLst>
    <p:sldId xmlns:r="http://schemas.openxmlformats.org/officeDocument/2006/relationships" id="256" r:id="R3384f5cccd8640f2"/>
  </p:sldIdLst>
  <p:sldSz cx="12192000" cy="6858000"/>
  <p:notesSz cx="6858000" cy="9144000"/>
  <p:embeddedFontLst>
    <p:embeddedFont>
      <p:font typeface="Lora Medium"/>
      <p:regular xmlns:r="http://schemas.openxmlformats.org/officeDocument/2006/relationships" r:id="Rb2d88d592b144d0c"/>
      <p:italic xmlns:r="http://schemas.openxmlformats.org/officeDocument/2006/relationships" r:id="Ra2e120d44f88416b"/>
    </p:embeddedFont>
    <p:embeddedFont>
      <p:font typeface="Lora SemiBold"/>
      <p:regular xmlns:r="http://schemas.openxmlformats.org/officeDocument/2006/relationships" r:id="R0f452e1b6b4c4305"/>
      <p:bold xmlns:r="http://schemas.openxmlformats.org/officeDocument/2006/relationships" r:id="Rc8ca0f965f1a40c6"/>
      <p:italic xmlns:r="http://schemas.openxmlformats.org/officeDocument/2006/relationships" r:id="R8091ba23d5fc4d93"/>
      <p:boldItalic xmlns:r="http://schemas.openxmlformats.org/officeDocument/2006/relationships" r:id="R71722698466f4005"/>
    </p:embeddedFont>
    <p:embeddedFont>
      <p:font typeface="OpenAI Sans"/>
      <p:regular xmlns:r="http://schemas.openxmlformats.org/officeDocument/2006/relationships" r:id="R9dc158facf9747b1"/>
      <p:bold xmlns:r="http://schemas.openxmlformats.org/officeDocument/2006/relationships" r:id="Rd57608b8ae0241ed"/>
      <p:italic xmlns:r="http://schemas.openxmlformats.org/officeDocument/2006/relationships" r:id="Rff2d14ee7d7d4044"/>
      <p:boldItalic xmlns:r="http://schemas.openxmlformats.org/officeDocument/2006/relationships" r:id="R583bf91e45414f5b"/>
    </p:embeddedFont>
    <p:embeddedFont>
      <p:font typeface="Roboto"/>
      <p:regular xmlns:r="http://schemas.openxmlformats.org/officeDocument/2006/relationships" r:id="R271a1e6ac89b4df1"/>
      <p:bold xmlns:r="http://schemas.openxmlformats.org/officeDocument/2006/relationships" r:id="R79885cc6d9dc400d"/>
      <p:italic xmlns:r="http://schemas.openxmlformats.org/officeDocument/2006/relationships" r:id="R48682c59c3884dda"/>
      <p:boldItalic xmlns:r="http://schemas.openxmlformats.org/officeDocument/2006/relationships" r:id="Rfdec479aab56401d"/>
    </p:embeddedFont>
    <p:embeddedFont>
      <p:font typeface="Roboto Medium"/>
      <p:regular xmlns:r="http://schemas.openxmlformats.org/officeDocument/2006/relationships" r:id="R51d4f624e98e4f21"/>
      <p:italic xmlns:r="http://schemas.openxmlformats.org/officeDocument/2006/relationships" r:id="R9d1c603010514a1b"/>
    </p:embeddedFont>
    <p:embeddedFont>
      <p:font typeface="Roboto SemiBold"/>
      <p:regular xmlns:r="http://schemas.openxmlformats.org/officeDocument/2006/relationships" r:id="R7c76a22b2bd84f89"/>
      <p:bold xmlns:r="http://schemas.openxmlformats.org/officeDocument/2006/relationships" r:id="Raa8c97cecce245a2"/>
      <p:italic xmlns:r="http://schemas.openxmlformats.org/officeDocument/2006/relationships" r:id="R1d6adc6284c14098"/>
      <p:boldItalic xmlns:r="http://schemas.openxmlformats.org/officeDocument/2006/relationships" r:id="R63161d8c9a45457a"/>
    </p:embeddedFont>
    <p:embeddedFont>
      <p:font typeface="Roboto Serif 14pt"/>
      <p:regular xmlns:r="http://schemas.openxmlformats.org/officeDocument/2006/relationships" r:id="R240b26fc0c14419d"/>
      <p:bold xmlns:r="http://schemas.openxmlformats.org/officeDocument/2006/relationships" r:id="Rb48d62b0d1ff4056"/>
      <p:italic xmlns:r="http://schemas.openxmlformats.org/officeDocument/2006/relationships" r:id="Rd6427dd1760f4f07"/>
      <p:boldItalic xmlns:r="http://schemas.openxmlformats.org/officeDocument/2006/relationships" r:id="R334542a18b2840a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7464fd6daf44a32" /><Relationship Type="http://schemas.openxmlformats.org/officeDocument/2006/relationships/slideMaster" Target="/ppt/slideMasters/slideMaster1.xml" Id="Rad1584d4f24a4d0b" /><Relationship Type="http://schemas.openxmlformats.org/officeDocument/2006/relationships/notesMaster" Target="/ppt/notesMasters/notesMaster1.xml" Id="Ref8506101b814f58" /><Relationship Type="http://schemas.openxmlformats.org/officeDocument/2006/relationships/presProps" Target="/ppt/presProps.xml" Id="Rb6108c3537284642" /><Relationship Type="http://schemas.openxmlformats.org/officeDocument/2006/relationships/viewProps" Target="/ppt/viewProps.xml" Id="Rab741aa6a8834a5e" /><Relationship Type="http://schemas.openxmlformats.org/officeDocument/2006/relationships/tableStyles" Target="/ppt/tableStyles.xml" Id="R50dcce5aec714e55" /><Relationship Type="http://schemas.openxmlformats.org/officeDocument/2006/relationships/font" Target="/ppt/fonts/font.dat" Id="Rb2d88d592b144d0c" /><Relationship Type="http://schemas.openxmlformats.org/officeDocument/2006/relationships/font" Target="/ppt/fonts/font2.dat" Id="Ra2e120d44f88416b" /><Relationship Type="http://schemas.openxmlformats.org/officeDocument/2006/relationships/font" Target="/ppt/fonts/font3.dat" Id="R0f452e1b6b4c4305" /><Relationship Type="http://schemas.openxmlformats.org/officeDocument/2006/relationships/font" Target="/ppt/fonts/font4.dat" Id="Rc8ca0f965f1a40c6" /><Relationship Type="http://schemas.openxmlformats.org/officeDocument/2006/relationships/font" Target="/ppt/fonts/font5.dat" Id="R8091ba23d5fc4d93" /><Relationship Type="http://schemas.openxmlformats.org/officeDocument/2006/relationships/font" Target="/ppt/fonts/font6.dat" Id="R71722698466f4005" /><Relationship Type="http://schemas.openxmlformats.org/officeDocument/2006/relationships/font" Target="/ppt/fonts/font7.dat" Id="R9dc158facf9747b1" /><Relationship Type="http://schemas.openxmlformats.org/officeDocument/2006/relationships/font" Target="/ppt/fonts/font8.dat" Id="Rd57608b8ae0241ed" /><Relationship Type="http://schemas.openxmlformats.org/officeDocument/2006/relationships/font" Target="/ppt/fonts/font9.dat" Id="Rff2d14ee7d7d4044" /><Relationship Type="http://schemas.openxmlformats.org/officeDocument/2006/relationships/font" Target="/ppt/fonts/font10.dat" Id="R583bf91e45414f5b" /><Relationship Type="http://schemas.openxmlformats.org/officeDocument/2006/relationships/font" Target="/ppt/fonts/font11.dat" Id="R271a1e6ac89b4df1" /><Relationship Type="http://schemas.openxmlformats.org/officeDocument/2006/relationships/font" Target="/ppt/fonts/font12.dat" Id="R79885cc6d9dc400d" /><Relationship Type="http://schemas.openxmlformats.org/officeDocument/2006/relationships/font" Target="/ppt/fonts/font13.dat" Id="R48682c59c3884dda" /><Relationship Type="http://schemas.openxmlformats.org/officeDocument/2006/relationships/font" Target="/ppt/fonts/font14.dat" Id="Rfdec479aab56401d" /><Relationship Type="http://schemas.openxmlformats.org/officeDocument/2006/relationships/font" Target="/ppt/fonts/font15.dat" Id="R51d4f624e98e4f21" /><Relationship Type="http://schemas.openxmlformats.org/officeDocument/2006/relationships/font" Target="/ppt/fonts/font16.dat" Id="R9d1c603010514a1b" /><Relationship Type="http://schemas.openxmlformats.org/officeDocument/2006/relationships/font" Target="/ppt/fonts/font17.dat" Id="R7c76a22b2bd84f89" /><Relationship Type="http://schemas.openxmlformats.org/officeDocument/2006/relationships/font" Target="/ppt/fonts/font18.dat" Id="Raa8c97cecce245a2" /><Relationship Type="http://schemas.openxmlformats.org/officeDocument/2006/relationships/font" Target="/ppt/fonts/font19.dat" Id="R1d6adc6284c14098" /><Relationship Type="http://schemas.openxmlformats.org/officeDocument/2006/relationships/font" Target="/ppt/fonts/font20.dat" Id="R63161d8c9a45457a" /><Relationship Type="http://schemas.openxmlformats.org/officeDocument/2006/relationships/font" Target="/ppt/fonts/font21.dat" Id="R240b26fc0c14419d" /><Relationship Type="http://schemas.openxmlformats.org/officeDocument/2006/relationships/font" Target="/ppt/fonts/font22.dat" Id="Rb48d62b0d1ff4056" /><Relationship Type="http://schemas.openxmlformats.org/officeDocument/2006/relationships/font" Target="/ppt/fonts/font23.dat" Id="Rd6427dd1760f4f07" /><Relationship Type="http://schemas.openxmlformats.org/officeDocument/2006/relationships/font" Target="/ppt/fonts/font24.dat" Id="R334542a18b2840a9" /><Relationship Type="http://schemas.openxmlformats.org/officeDocument/2006/relationships/slide" Target="/ppt/slides/slide1.xml" Id="R3384f5cccd8640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fc5d7365994a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b61a3fcae241d4" /><Relationship Type="http://schemas.openxmlformats.org/officeDocument/2006/relationships/notesMaster" Target="/ppt/notesMasters/notesMaster1.xml" Id="R124eb570a29d4b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발표 핵심: 전국 소상공인 조사에서는 매출 감소 응답과 비용 증가 응답이 29개월 동안 함께 우세했습니다. 제공 문서에 수록된 2025년 대구 카드 집계에서는 같은 업종도 구군별 상대 객단가 범위가 달랐고, 업종별 최대 요일도 월요일, 화요일, 목요일, 일요일로 나뉘었습니다. 따라서 광역 평균만으로 점포별 대응 시점을 정하기 어렵고, 점포 데이터를 더 세분화된 비교 기준과 함께 분석해야 합니다.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출처 1: 인사이트_데이터 1.docx p.5, 그림 1. 문서 표기 원자료는 소상공인 경기동향.csv, 2024년 1월부터 2026년 5월입니다.</a:t>
            </a:r>
            <a:endParaRPr/>
          </a:p>
          <a:p xmlns:a="http://schemas.openxmlformats.org/drawingml/2006/main">
            <a:pPr marL="0" lvl="0" indent="0" algn="l">
              <a:spcBef>
                <a:spcPts val="0"/>
              </a:spcBef>
              <a:spcAft>
                <a:spcPts val="0"/>
              </a:spcAft>
              <a:buNone/>
            </a:pPr>
            <a:r>
              <a:t>출처 2: 인사이트_데이터 1.docx p.11, 그림 6. 문서 표기 원자료는 05_대구_시군구별_업종중분류_상세.csv, 2025년입니다.</a:t>
            </a:r>
            <a:endParaRPr/>
          </a:p>
          <a:p xmlns:a="http://schemas.openxmlformats.org/drawingml/2006/main">
            <a:pPr marL="0" lvl="0" indent="0" algn="l">
              <a:spcBef>
                <a:spcPts val="0"/>
              </a:spcBef>
              <a:spcAft>
                <a:spcPts val="0"/>
              </a:spcAft>
              <a:buNone/>
            </a:pPr>
            <a:r>
              <a:t>출처 3: 인사이트_데이터 1.docx p.12, 그림 7. 문서 표기 원자료는 02_요일코드별_업종중분류_상세.csv, 2025년입니다.</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해석 주의: BSI는 설문 상대지수이며 실제 매출액과 비용의 증감률이 아닙니다. 상대 객단가와 요일 매출지수는 실제 원화 금액이나 수익성을 뜻하지 않습니다. 카드 집계 결과를 대구 전체 소비 또는 개별 점포 결과로 일반화하지 않습니다.</a:t>
            </a:r>
            <a:endParaRPr/>
          </a:p>
          <a:p xmlns:a="http://schemas.openxmlformats.org/drawingml/2006/main">
            <a:pPr marL="0" lvl="0" indent="0" algn="l">
              <a:spcBef>
                <a:spcPts val="0"/>
              </a:spcBef>
              <a:spcAft>
                <a:spcPts val="0"/>
              </a:spcAft>
              <a:buNone/>
            </a:pPr>
            <a:r>
              <a:t>검증 상태: 원문 DOCX 내 이미지와 별도 시각화 PNG의 SHA-256 일치를 확인했습니다. 원본 CSV와 IPYNB가 프로젝트에 없어 수치 재현 검증은 완료하지 못했습니다.</a:t>
            </a:r>
            <a:endParaRPr/>
          </a:p>
          <a:p xmlns:a="http://schemas.openxmlformats.org/drawingml/2006/main">
            <a:r>
              <a:t/>
            </a:r>
          </a:p>
          <a:p xmlns:a="http://schemas.openxmlformats.org/drawingml/2006/main">
            <a:r>
              <a:t>보완 사항: 18개 업종과 9개 구·군은 분석 범위이며 모든 조합이 완전 관측됐다는 의미가 아닙니다. 요일 피크 분산은 그림에 제시된 상위 8개 업종 결과입니다.</a:t>
            </a:r>
          </a:p>
          <a:p xmlns:a="http://schemas.openxmlformats.org/drawingml/2006/main">
            <a:r>
              <a:t/>
            </a:r>
          </a:p>
          <a:p xmlns:a="http://schemas.openxmlformats.org/drawingml/2006/main">
            <a:r>
              <a:t>현재 구현 상태(2026-09-08): 정적 프로토타입은 생성 POS·지출·상권 자료와 2026-09-03 고정 CCTV·POS 회복 시나리오로 동작합니다. 실제 DB·POS·CCTV·지도·외부 AI 연동은 미구현이며, 행동 실행은 브라우저 메모리에만 남고 7일 결과는 집계 대기입니다. 분석요약 PDF에는 회복 내용이 포함되지 않습니다. 블록체인은 현재 적용하지 않으며 도입 여부는 논의 중입니다.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d784497996478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158d5fb9e5d463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0f586f5b07a4f8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cb3f7e24ee743a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645be09fcb94af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6ad5525aff34f9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0b80ea66e2949d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8aef5abdd534295"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latin typeface="Lora SemiBold"/>
                <a:ea typeface="Lora SemiBold"/>
                <a:cs typeface="Lora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699" y="6279294"/>
            <a:ext cx="8129411"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294"/>
            <a:ext cx="87051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294"/>
            <a:ext cx="74930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699" y="6279294"/>
            <a:ext cx="846664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699" y="6279294"/>
            <a:ext cx="736176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294"/>
            <a:ext cx="75875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9f751f512c4d2c" /><Relationship Type="http://schemas.openxmlformats.org/officeDocument/2006/relationships/slideLayout" Target="/ppt/slideLayouts/slideLayout1.xml" Id="R56b0f59e93b7452b" /><Relationship Type="http://schemas.openxmlformats.org/officeDocument/2006/relationships/slideLayout" Target="/ppt/slideLayouts/slideLayout2.xml" Id="R9b15c8d185e14f0c" /><Relationship Type="http://schemas.openxmlformats.org/officeDocument/2006/relationships/slideLayout" Target="/ppt/slideLayouts/slideLayout3.xml" Id="Re0cace250e324131" /><Relationship Type="http://schemas.openxmlformats.org/officeDocument/2006/relationships/slideLayout" Target="/ppt/slideLayouts/slideLayout4.xml" Id="Rd828d43acab74cf0" /><Relationship Type="http://schemas.openxmlformats.org/officeDocument/2006/relationships/slideLayout" Target="/ppt/slideLayouts/slideLayout5.xml" Id="R841e776c285241bf" /><Relationship Type="http://schemas.openxmlformats.org/officeDocument/2006/relationships/slideLayout" Target="/ppt/slideLayouts/slideLayout6.xml" Id="R02959f66d7634fb3" /><Relationship Type="http://schemas.openxmlformats.org/officeDocument/2006/relationships/slideLayout" Target="/ppt/slideLayouts/slideLayout7.xml" Id="Rf6468faf7edc4794" /><Relationship Type="http://schemas.openxmlformats.org/officeDocument/2006/relationships/slideLayout" Target="/ppt/slideLayouts/slideLayout8.xml" Id="R0c2e8be5e9c9481e" /></Relationships>
</file>

<file path=ppt/slideMasters/slideMaster1.xml><?xml version="1.0" encoding="utf-8"?>
<p:sldMaster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294"/>
            <a:ext cx="75311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b0f59e93b7452b"/>
    <p:sldLayoutId xmlns:r="http://schemas.openxmlformats.org/officeDocument/2006/relationships" id="2147483650" r:id="R9b15c8d185e14f0c"/>
    <p:sldLayoutId xmlns:r="http://schemas.openxmlformats.org/officeDocument/2006/relationships" id="2147483651" r:id="Re0cace250e324131"/>
    <p:sldLayoutId xmlns:r="http://schemas.openxmlformats.org/officeDocument/2006/relationships" id="2147483652" r:id="Rd828d43acab74cf0"/>
    <p:sldLayoutId xmlns:r="http://schemas.openxmlformats.org/officeDocument/2006/relationships" id="2147483653" r:id="R841e776c285241bf"/>
    <p:sldLayoutId xmlns:r="http://schemas.openxmlformats.org/officeDocument/2006/relationships" id="2147483654" r:id="R02959f66d7634fb3"/>
    <p:sldLayoutId xmlns:r="http://schemas.openxmlformats.org/officeDocument/2006/relationships" id="2147483655" r:id="Rf6468faf7edc4794"/>
    <p:sldLayoutId xmlns:r="http://schemas.openxmlformats.org/officeDocument/2006/relationships" id="2147483656" r:id="R0c2e8be5e9c9481e"/>
  </p:sldLayoutIdLst>
  <p:hf hdr="0" dt="0"/>
  <p:txStyles>
    <p:titleStyle>
      <a:lvl1pPr xmlns:a="http://schemas.openxmlformats.org/drawingml/2006/main" algn="l" defTabSz="914400">
        <a:lnSpc>
          <a:spcPct val="90000"/>
        </a:lnSpc>
        <a:spcBef>
          <a:spcPct val="0"/>
        </a:spcBef>
        <a:buNone/>
        <a:defRPr sz="2900" b="1" i="0" kern="1200">
          <a:solidFill>
            <a:schemeClr val="tx1"/>
          </a:solidFill>
          <a:latin typeface="Lora SemiBold"/>
          <a:ea typeface="Lora SemiBold"/>
          <a:cs typeface="Lora SemiBold"/>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520"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7a07912ea7b49bb" /><Relationship Type="http://schemas.openxmlformats.org/officeDocument/2006/relationships/image" Target="/ppt/media/image.png" Id="R6f9801d3e65f4069" /><Relationship Type="http://schemas.openxmlformats.org/officeDocument/2006/relationships/image" Target="/ppt/media/image2.png" Id="Rb008d8f9f4554927" /><Relationship Type="http://schemas.openxmlformats.org/officeDocument/2006/relationships/image" Target="/ppt/media/image3.png" Id="R648c787cccbd402b" /><Relationship Type="http://schemas.openxmlformats.org/officeDocument/2006/relationships/notesSlide" Target="/ppt/notesSlides/notesSlide1.xml" Id="R903e54a74f0d4949" /></Relationships>
</file>

<file path=ppt/slides/slide1.xml><?xml version="1.0" encoding="utf-8"?>
<p:sld xmlns:p="http://schemas.openxmlformats.org/presentationml/2006/main">
  <p:cSld>
    <p:bg>
      <p:bgPr>
        <a:solidFill xmlns:a="http://schemas.openxmlformats.org/drawingml/2006/main">
          <a:srgbClr val="FAFCFE"/>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2918D5C2-788F-4235-8AF3-26AC87F95633}"/>
              </a:ext>
            </a:extLst>
          </p:cNvPr>
          <p:cNvSpPr>
            <a:spLocks xmlns:a="http://schemas.openxmlformats.org/drawingml/2006/main" noGrp="1"/>
          </p:cNvSpPr>
          <p:nvPr/>
        </p:nvSpPr>
        <p:spPr>
          <a:xfrm xmlns:a="http://schemas.openxmlformats.org/drawingml/2006/main">
            <a:off x="457200" y="2095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125" b="1">
                <a:solidFill>
                  <a:srgbClr val="647182"/>
                </a:solidFill>
                <a:latin typeface="Malgun Gothic"/>
                <a:ea typeface="Malgun Gothic"/>
                <a:cs typeface="Malgun Gothic"/>
              </a:defRPr>
            </a:pPr>
            <a:r>
              <a:rPr sz="1125" b="1">
                <a:solidFill>
                  <a:srgbClr val="647182"/>
                </a:solidFill>
                <a:latin typeface="Malgun Gothic"/>
                <a:ea typeface="Malgun Gothic"/>
                <a:cs typeface="Malgun Gothic"/>
              </a:rPr>
              <a:t>제안 배경</a:t>
            </a:r>
          </a:p>
        </p:txBody>
      </p:sp>
      <p:sp>
        <p:nvSpPr>
          <p:cNvPr id="2" name="slide-title">
            <a:extLst xmlns:a="http://schemas.openxmlformats.org/drawingml/2006/main">
              <a:ext uri="{FF2B5EF4-FFF2-40B4-BE49-F238E27FC236}">
                <a16:creationId xmlns:a16="http://schemas.microsoft.com/office/drawing/2014/main" id="{3E1AF12C-F281-467B-A099-E9EC80DD8F03}"/>
              </a:ext>
            </a:extLst>
          </p:cNvPr>
          <p:cNvSpPr>
            <a:spLocks xmlns:a="http://schemas.openxmlformats.org/drawingml/2006/main" noGrp="1"/>
          </p:cNvSpPr>
          <p:nvPr/>
        </p:nvSpPr>
        <p:spPr>
          <a:xfrm xmlns:a="http://schemas.openxmlformats.org/drawingml/2006/main">
            <a:off x="457200" y="45720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2387"/>
          </a:bodyPr>
          <a:lstStyle xmlns:a="http://schemas.openxmlformats.org/drawingml/2006/main"/>
          <a:p xmlns:a="http://schemas.openxmlformats.org/drawingml/2006/main">
            <a:pPr algn="l">
              <a:lnSpc>
                <a:spcPct val="110000"/>
              </a:lnSpc>
              <a:buNone/>
              <a:defRPr sz="3075" b="1">
                <a:solidFill>
                  <a:srgbClr val="3357B8"/>
                </a:solidFill>
                <a:latin typeface="Malgun Gothic"/>
                <a:ea typeface="Malgun Gothic"/>
                <a:cs typeface="Malgun Gothic"/>
              </a:defRPr>
            </a:pPr>
            <a:r>
              <a:rPr sz="3075" b="1">
                <a:solidFill>
                  <a:srgbClr val="3357B8"/>
                </a:solidFill>
                <a:latin typeface="Malgun Gothic"/>
                <a:ea typeface="Malgun Gothic"/>
                <a:cs typeface="Malgun Gothic"/>
              </a:rPr>
              <a:t>경영 압박 체감은 이어졌고, 집계 패턴은 달랐습니다</a:t>
            </a:r>
          </a:p>
        </p:txBody>
      </p:sp>
      <p:sp>
        <p:nvSpPr>
          <p:cNvPr id="3" name="slide-subtitle">
            <a:extLst xmlns:a="http://schemas.openxmlformats.org/drawingml/2006/main">
              <a:ext uri="{FF2B5EF4-FFF2-40B4-BE49-F238E27FC236}">
                <a16:creationId xmlns:a16="http://schemas.microsoft.com/office/drawing/2014/main" id="{04001BE9-35DB-40F3-9D9E-0B59F63EE4BD}"/>
              </a:ext>
            </a:extLst>
          </p:cNvPr>
          <p:cNvSpPr>
            <a:spLocks xmlns:a="http://schemas.openxmlformats.org/drawingml/2006/main" noGrp="1"/>
          </p:cNvSpPr>
          <p:nvPr/>
        </p:nvSpPr>
        <p:spPr>
          <a:xfrm xmlns:a="http://schemas.openxmlformats.org/drawingml/2006/main">
            <a:off x="476250" y="962025"/>
            <a:ext cx="723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275" b="0">
                <a:solidFill>
                  <a:srgbClr val="647182"/>
                </a:solidFill>
                <a:latin typeface="Malgun Gothic"/>
                <a:ea typeface="Malgun Gothic"/>
                <a:cs typeface="Malgun Gothic"/>
              </a:defRPr>
            </a:pPr>
            <a:r>
              <a:rPr sz="1275" b="0">
                <a:solidFill>
                  <a:srgbClr val="647182"/>
                </a:solidFill>
                <a:latin typeface="Malgun Gothic"/>
                <a:ea typeface="Malgun Gothic"/>
                <a:cs typeface="Malgun Gothic"/>
              </a:rPr>
              <a:t>제공 문서의 전국 BSI와 2025년 대구 카드 집계 결과를 검토했습니다</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6f9801d3e65f4069"/>
          <a:stretch xmlns:a="http://schemas.openxmlformats.org/drawingml/2006/main"/>
        </p:blipFill>
        <p:spPr>
          <a:xfrm xmlns:a="http://schemas.openxmlformats.org/drawingml/2006/main">
            <a:off x="400541" y="1266825"/>
            <a:ext cx="6666518" cy="3771900"/>
          </a:xfrm>
          <a:prstGeom xmlns:a="http://schemas.openxmlformats.org/drawingml/2006/main" prst="rect">
            <a:avLst/>
          </a:prstGeom>
        </p:spPr>
      </p:pic>
      <p:sp>
        <p:nvSpPr>
          <p:cNvPr id="5" name="bsi-takeaway">
            <a:extLst xmlns:a="http://schemas.openxmlformats.org/drawingml/2006/main">
              <a:ext uri="{FF2B5EF4-FFF2-40B4-BE49-F238E27FC236}">
                <a16:creationId xmlns:a16="http://schemas.microsoft.com/office/drawing/2014/main" id="{04D74156-D9B2-4F27-9696-C33D3F145C2A}"/>
              </a:ext>
            </a:extLst>
          </p:cNvPr>
          <p:cNvSpPr>
            <a:spLocks xmlns:a="http://schemas.openxmlformats.org/drawingml/2006/main" noGrp="1"/>
          </p:cNvSpPr>
          <p:nvPr/>
        </p:nvSpPr>
        <p:spPr>
          <a:xfrm xmlns:a="http://schemas.openxmlformats.org/drawingml/2006/main">
            <a:off x="495300" y="5095875"/>
            <a:ext cx="638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650" b="1">
                <a:solidFill>
                  <a:srgbClr val="0E2841"/>
                </a:solidFill>
                <a:latin typeface="Malgun Gothic"/>
                <a:ea typeface="Malgun Gothic"/>
                <a:cs typeface="Malgun Gothic"/>
              </a:defRPr>
            </a:pPr>
            <a:r>
              <a:rPr sz="1650" b="1">
                <a:solidFill>
                  <a:srgbClr val="0E2841"/>
                </a:solidFill>
                <a:latin typeface="Malgun Gothic"/>
                <a:ea typeface="Malgun Gothic"/>
                <a:cs typeface="Malgun Gothic"/>
              </a:rPr>
              <a:t>제공 문서 기준 29개월 연속 매출 감소·비용 증가 응답 우세</a:t>
            </a:r>
          </a:p>
        </p:txBody>
      </p:sp>
      <p:sp>
        <p:nvSpPr>
          <p:cNvPr id="6" name="district-index">
            <a:extLst xmlns:a="http://schemas.openxmlformats.org/drawingml/2006/main">
              <a:ext uri="{FF2B5EF4-FFF2-40B4-BE49-F238E27FC236}">
                <a16:creationId xmlns:a16="http://schemas.microsoft.com/office/drawing/2014/main" id="{3E7B5806-A767-4CD3-8D6B-222C24941EE4}"/>
              </a:ext>
            </a:extLst>
          </p:cNvPr>
          <p:cNvSpPr>
            <a:spLocks xmlns:a="http://schemas.openxmlformats.org/drawingml/2006/main" noGrp="1"/>
          </p:cNvSpPr>
          <p:nvPr/>
        </p:nvSpPr>
        <p:spPr>
          <a:xfrm xmlns:a="http://schemas.openxmlformats.org/drawingml/2006/main">
            <a:off x="7448550" y="1304925"/>
            <a:ext cx="190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200" b="1">
                <a:solidFill>
                  <a:srgbClr val="3357B8"/>
                </a:solidFill>
                <a:latin typeface="Malgun Gothic"/>
                <a:ea typeface="Malgun Gothic"/>
                <a:cs typeface="Malgun Gothic"/>
              </a:defRPr>
            </a:pPr>
            <a:r>
              <a:rPr sz="1200" b="1">
                <a:solidFill>
                  <a:srgbClr val="3357B8"/>
                </a:solidFill>
                <a:latin typeface="Malgun Gothic"/>
                <a:ea typeface="Malgun Gothic"/>
                <a:cs typeface="Malgun Gothic"/>
              </a:rPr>
              <a:t>02  지역 차이</a:t>
            </a:r>
          </a:p>
        </p:txBody>
      </p:sp>
      <p:sp>
        <p:nvSpPr>
          <p:cNvPr id="7" name="district-title">
            <a:extLst xmlns:a="http://schemas.openxmlformats.org/drawingml/2006/main">
              <a:ext uri="{FF2B5EF4-FFF2-40B4-BE49-F238E27FC236}">
                <a16:creationId xmlns:a16="http://schemas.microsoft.com/office/drawing/2014/main" id="{1F25D16D-BABB-49F7-84C8-267B68E0787B}"/>
              </a:ext>
            </a:extLst>
          </p:cNvPr>
          <p:cNvSpPr>
            <a:spLocks xmlns:a="http://schemas.openxmlformats.org/drawingml/2006/main" noGrp="1"/>
          </p:cNvSpPr>
          <p:nvPr/>
        </p:nvSpPr>
        <p:spPr>
          <a:xfrm xmlns:a="http://schemas.openxmlformats.org/drawingml/2006/main">
            <a:off x="7448550" y="1552575"/>
            <a:ext cx="4191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2175" b="1">
                <a:solidFill>
                  <a:srgbClr val="0E2841"/>
                </a:solidFill>
                <a:latin typeface="Malgun Gothic"/>
                <a:ea typeface="Malgun Gothic"/>
                <a:cs typeface="Malgun Gothic"/>
              </a:defRPr>
            </a:pPr>
            <a:r>
              <a:rPr sz="2175" b="1">
                <a:solidFill>
                  <a:srgbClr val="0E2841"/>
                </a:solidFill>
                <a:latin typeface="Malgun Gothic"/>
                <a:ea typeface="Malgun Gothic"/>
                <a:cs typeface="Malgun Gothic"/>
              </a:rPr>
              <a:t>관측 범위 18개 업종·9개 구·군</a:t>
            </a:r>
          </a:p>
        </p:txBody>
      </p:sp>
      <p:sp>
        <p:nvSpPr>
          <p:cNvPr id="8" name="district-claim">
            <a:extLst xmlns:a="http://schemas.openxmlformats.org/drawingml/2006/main">
              <a:ext uri="{FF2B5EF4-FFF2-40B4-BE49-F238E27FC236}">
                <a16:creationId xmlns:a16="http://schemas.microsoft.com/office/drawing/2014/main" id="{9DB118CE-318E-4D6F-B71A-D278A6C0C8D6}"/>
              </a:ext>
            </a:extLst>
          </p:cNvPr>
          <p:cNvSpPr>
            <a:spLocks xmlns:a="http://schemas.openxmlformats.org/drawingml/2006/main" noGrp="1"/>
          </p:cNvSpPr>
          <p:nvPr/>
        </p:nvSpPr>
        <p:spPr>
          <a:xfrm xmlns:a="http://schemas.openxmlformats.org/drawingml/2006/main">
            <a:off x="7448550" y="1924050"/>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350" b="1">
                <a:solidFill>
                  <a:srgbClr val="1B2530"/>
                </a:solidFill>
                <a:latin typeface="Malgun Gothic"/>
                <a:ea typeface="Malgun Gothic"/>
                <a:cs typeface="Malgun Gothic"/>
              </a:defRPr>
            </a:pPr>
            <a:r>
              <a:rPr sz="1350" b="1">
                <a:solidFill>
                  <a:srgbClr val="1B2530"/>
                </a:solidFill>
                <a:latin typeface="Malgun Gothic"/>
                <a:ea typeface="Malgun Gothic"/>
                <a:cs typeface="Malgun Gothic"/>
              </a:rPr>
              <a:t>같은 업종도 구군별 상대 객단가 범위가 달랐습니다</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b008d8f9f4554927"/>
          <a:srcRect xmlns:a="http://schemas.openxmlformats.org/drawingml/2006/main" l="0" t="10336" r="0" b="10336"/>
          <a:stretch xmlns:a="http://schemas.openxmlformats.org/drawingml/2006/main">
            <a:fillRect l="0" t="0" r="0" b="0"/>
          </a:stretch>
        </p:blipFill>
        <p:spPr>
          <a:xfrm xmlns:a="http://schemas.openxmlformats.org/drawingml/2006/main">
            <a:off x="7448550" y="2305050"/>
            <a:ext cx="1924050" cy="838200"/>
          </a:xfrm>
          <a:prstGeom xmlns:a="http://schemas.openxmlformats.org/drawingml/2006/main" prst="rect">
            <a:avLst/>
          </a:prstGeom>
        </p:spPr>
      </p:pic>
      <p:sp>
        <p:nvSpPr>
          <p:cNvPr id="10" name="district-examples">
            <a:extLst xmlns:a="http://schemas.openxmlformats.org/drawingml/2006/main">
              <a:ext uri="{FF2B5EF4-FFF2-40B4-BE49-F238E27FC236}">
                <a16:creationId xmlns:a16="http://schemas.microsoft.com/office/drawing/2014/main" id="{DF955B9A-CC6E-42AE-BD47-BB318FDF4B67}"/>
              </a:ext>
            </a:extLst>
          </p:cNvPr>
          <p:cNvSpPr>
            <a:spLocks xmlns:a="http://schemas.openxmlformats.org/drawingml/2006/main" noGrp="1"/>
          </p:cNvSpPr>
          <p:nvPr/>
        </p:nvSpPr>
        <p:spPr>
          <a:xfrm xmlns:a="http://schemas.openxmlformats.org/drawingml/2006/main">
            <a:off x="9553575" y="235267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347"/>
          </a:bodyPr>
          <a:lstStyle xmlns:a="http://schemas.openxmlformats.org/drawingml/2006/main"/>
          <a:p xmlns:a="http://schemas.openxmlformats.org/drawingml/2006/main">
            <a:pPr algn="l">
              <a:lnSpc>
                <a:spcPct val="115000"/>
              </a:lnSpc>
              <a:buNone/>
              <a:defRPr sz="1425" b="1">
                <a:solidFill>
                  <a:srgbClr val="0E2841"/>
                </a:solidFill>
                <a:latin typeface="Malgun Gothic"/>
                <a:ea typeface="Malgun Gothic"/>
                <a:cs typeface="Malgun Gothic"/>
              </a:defRPr>
            </a:pPr>
            <a:r>
              <a:rPr sz="1425" b="1">
                <a:solidFill>
                  <a:srgbClr val="0E2841"/>
                </a:solidFill>
                <a:latin typeface="Malgun Gothic"/>
                <a:ea typeface="Malgun Gothic"/>
                <a:cs typeface="Malgun Gothic"/>
              </a:rPr>
              <a:t>음식점  0.89~1.12</a:t>
            </a:r>
          </a:p>
          <a:p xmlns:a="http://schemas.openxmlformats.org/drawingml/2006/main">
            <a:pPr algn="l">
              <a:lnSpc>
                <a:spcPct val="115000"/>
              </a:lnSpc>
              <a:buNone/>
              <a:defRPr sz="1425" b="1">
                <a:solidFill>
                  <a:srgbClr val="0E2841"/>
                </a:solidFill>
                <a:latin typeface="Malgun Gothic"/>
                <a:ea typeface="Malgun Gothic"/>
                <a:cs typeface="Malgun Gothic"/>
              </a:defRPr>
            </a:pPr>
            <a:r>
              <a:rPr sz="1425" b="1">
                <a:solidFill>
                  <a:srgbClr val="0E2841"/>
                </a:solidFill>
                <a:latin typeface="Malgun Gothic"/>
                <a:ea typeface="Malgun Gothic"/>
                <a:cs typeface="Malgun Gothic"/>
              </a:rPr>
              <a:t>일반병원  0.44~1.70</a:t>
            </a:r>
          </a:p>
        </p:txBody>
      </p:sp>
      <p:sp>
        <p:nvSpPr>
          <p:cNvPr id="11" name="district-note">
            <a:extLst xmlns:a="http://schemas.openxmlformats.org/drawingml/2006/main">
              <a:ext uri="{FF2B5EF4-FFF2-40B4-BE49-F238E27FC236}">
                <a16:creationId xmlns:a16="http://schemas.microsoft.com/office/drawing/2014/main" id="{A67C41C7-B3AE-4CFC-AF95-D477DA79B99C}"/>
              </a:ext>
            </a:extLst>
          </p:cNvPr>
          <p:cNvSpPr>
            <a:spLocks xmlns:a="http://schemas.openxmlformats.org/drawingml/2006/main" noGrp="1"/>
          </p:cNvSpPr>
          <p:nvPr/>
        </p:nvSpPr>
        <p:spPr>
          <a:xfrm xmlns:a="http://schemas.openxmlformats.org/drawingml/2006/main">
            <a:off x="9553575" y="28765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975" b="0">
                <a:solidFill>
                  <a:srgbClr val="647182"/>
                </a:solidFill>
                <a:latin typeface="Malgun Gothic"/>
                <a:ea typeface="Malgun Gothic"/>
                <a:cs typeface="Malgun Gothic"/>
              </a:defRPr>
            </a:pPr>
            <a:r>
              <a:rPr sz="975" b="0">
                <a:solidFill>
                  <a:srgbClr val="647182"/>
                </a:solidFill>
                <a:latin typeface="Malgun Gothic"/>
                <a:ea typeface="Malgun Gothic"/>
                <a:cs typeface="Malgun Gothic"/>
              </a:rPr>
              <a:t>중앙값=1.0 · 상위 9개 · 일부 결측</a:t>
            </a:r>
          </a:p>
        </p:txBody>
      </p:sp>
      <p:sp>
        <p:nvSpPr>
          <p:cNvPr id="12" name="right-divider">
            <a:extLst xmlns:a="http://schemas.openxmlformats.org/drawingml/2006/main">
              <a:ext uri="{FF2B5EF4-FFF2-40B4-BE49-F238E27FC236}">
                <a16:creationId xmlns:a16="http://schemas.microsoft.com/office/drawing/2014/main" id="{EDBDD1B0-6568-45F1-890C-4D6EA696A6EB}"/>
              </a:ext>
            </a:extLst>
          </p:cNvPr>
          <p:cNvSpPr>
            <a:spLocks xmlns:a="http://schemas.openxmlformats.org/drawingml/2006/main" noGrp="1"/>
          </p:cNvSpPr>
          <p:nvPr/>
        </p:nvSpPr>
        <p:spPr>
          <a:xfrm xmlns:a="http://schemas.openxmlformats.org/drawingml/2006/main">
            <a:off x="7448550" y="3324225"/>
            <a:ext cx="4191000" cy="0"/>
          </a:xfrm>
          <a:prstGeom xmlns:a="http://schemas.openxmlformats.org/drawingml/2006/main" prst="line">
            <a:avLst/>
          </a:prstGeom>
          <a:noFill xmlns:a="http://schemas.openxmlformats.org/drawingml/2006/main"/>
          <a:ln xmlns:a="http://schemas.openxmlformats.org/drawingml/2006/main" w="9525">
            <a:solidFill>
              <a:srgbClr val="D8DEE7"/>
            </a:solidFill>
            <a:prstDash val="solid"/>
          </a:ln>
        </p:spPr>
      </p:sp>
      <p:sp>
        <p:nvSpPr>
          <p:cNvPr id="13" name="weekday-index">
            <a:extLst xmlns:a="http://schemas.openxmlformats.org/drawingml/2006/main">
              <a:ext uri="{FF2B5EF4-FFF2-40B4-BE49-F238E27FC236}">
                <a16:creationId xmlns:a16="http://schemas.microsoft.com/office/drawing/2014/main" id="{FD1EEF24-C6E4-4468-82D6-CF4B3AE99DB4}"/>
              </a:ext>
            </a:extLst>
          </p:cNvPr>
          <p:cNvSpPr>
            <a:spLocks xmlns:a="http://schemas.openxmlformats.org/drawingml/2006/main" noGrp="1"/>
          </p:cNvSpPr>
          <p:nvPr/>
        </p:nvSpPr>
        <p:spPr>
          <a:xfrm xmlns:a="http://schemas.openxmlformats.org/drawingml/2006/main">
            <a:off x="7448550" y="3476625"/>
            <a:ext cx="190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0000"/>
              </a:lnSpc>
              <a:buNone/>
              <a:defRPr sz="1200" b="1">
                <a:solidFill>
                  <a:srgbClr val="3357B8"/>
                </a:solidFill>
                <a:latin typeface="Malgun Gothic"/>
                <a:ea typeface="Malgun Gothic"/>
                <a:cs typeface="Malgun Gothic"/>
              </a:defRPr>
            </a:pPr>
            <a:r>
              <a:rPr sz="1200" b="1">
                <a:solidFill>
                  <a:srgbClr val="3357B8"/>
                </a:solidFill>
                <a:latin typeface="Malgun Gothic"/>
                <a:ea typeface="Malgun Gothic"/>
                <a:cs typeface="Malgun Gothic"/>
              </a:rPr>
              <a:t>03  시점 차이</a:t>
            </a:r>
          </a:p>
        </p:txBody>
      </p:sp>
      <p:sp>
        <p:nvSpPr>
          <p:cNvPr id="14" name="weekday-title">
            <a:extLst xmlns:a="http://schemas.openxmlformats.org/drawingml/2006/main">
              <a:ext uri="{FF2B5EF4-FFF2-40B4-BE49-F238E27FC236}">
                <a16:creationId xmlns:a16="http://schemas.microsoft.com/office/drawing/2014/main" id="{81236CDE-2C44-463D-AF03-012B61F34921}"/>
              </a:ext>
            </a:extLst>
          </p:cNvPr>
          <p:cNvSpPr>
            <a:spLocks xmlns:a="http://schemas.openxmlformats.org/drawingml/2006/main" noGrp="1"/>
          </p:cNvSpPr>
          <p:nvPr/>
        </p:nvSpPr>
        <p:spPr>
          <a:xfrm xmlns:a="http://schemas.openxmlformats.org/drawingml/2006/main">
            <a:off x="7448550" y="372427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2025" b="1">
                <a:solidFill>
                  <a:srgbClr val="0E2841"/>
                </a:solidFill>
                <a:latin typeface="Malgun Gothic"/>
                <a:ea typeface="Malgun Gothic"/>
                <a:cs typeface="Malgun Gothic"/>
              </a:defRPr>
            </a:pPr>
            <a:r>
              <a:rPr sz="2025" b="1">
                <a:solidFill>
                  <a:srgbClr val="0E2841"/>
                </a:solidFill>
                <a:latin typeface="Malgun Gothic"/>
                <a:ea typeface="Malgun Gothic"/>
                <a:cs typeface="Malgun Gothic"/>
              </a:rPr>
              <a:t>상위 8개 업종의 피크 요일</a:t>
            </a:r>
          </a:p>
        </p:txBody>
      </p:sp>
      <p:sp>
        <p:nvSpPr>
          <p:cNvPr id="15" name="weekday-claim">
            <a:extLst xmlns:a="http://schemas.openxmlformats.org/drawingml/2006/main">
              <a:ext uri="{FF2B5EF4-FFF2-40B4-BE49-F238E27FC236}">
                <a16:creationId xmlns:a16="http://schemas.microsoft.com/office/drawing/2014/main" id="{FC2D545C-5CEB-44A7-88F8-F04039363E96}"/>
              </a:ext>
            </a:extLst>
          </p:cNvPr>
          <p:cNvSpPr>
            <a:spLocks xmlns:a="http://schemas.openxmlformats.org/drawingml/2006/main" noGrp="1"/>
          </p:cNvSpPr>
          <p:nvPr/>
        </p:nvSpPr>
        <p:spPr>
          <a:xfrm xmlns:a="http://schemas.openxmlformats.org/drawingml/2006/main">
            <a:off x="7448550" y="409575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514"/>
          </a:bodyPr>
          <a:lstStyle xmlns:a="http://schemas.openxmlformats.org/drawingml/2006/main"/>
          <a:p xmlns:a="http://schemas.openxmlformats.org/drawingml/2006/main">
            <a:pPr algn="l">
              <a:lnSpc>
                <a:spcPct val="108000"/>
              </a:lnSpc>
              <a:buNone/>
              <a:defRPr sz="1350" b="1">
                <a:solidFill>
                  <a:srgbClr val="1B2530"/>
                </a:solidFill>
                <a:latin typeface="Malgun Gothic"/>
                <a:ea typeface="Malgun Gothic"/>
                <a:cs typeface="Malgun Gothic"/>
              </a:defRPr>
            </a:pPr>
            <a:r>
              <a:rPr sz="1350" b="1">
                <a:solidFill>
                  <a:srgbClr val="1B2530"/>
                </a:solidFill>
                <a:latin typeface="Malgun Gothic"/>
                <a:ea typeface="Malgun Gothic"/>
                <a:cs typeface="Malgun Gothic"/>
              </a:rPr>
              <a:t>월·화·목·일로 나뉘어 일률적인 주간 전략이 어렵습니다</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648c787cccbd402b"/>
          <a:srcRect xmlns:a="http://schemas.openxmlformats.org/drawingml/2006/main" l="0" t="9551" r="0" b="9551"/>
          <a:stretch xmlns:a="http://schemas.openxmlformats.org/drawingml/2006/main">
            <a:fillRect l="0" t="0" r="0" b="0"/>
          </a:stretch>
        </p:blipFill>
        <p:spPr>
          <a:xfrm xmlns:a="http://schemas.openxmlformats.org/drawingml/2006/main">
            <a:off x="7448550" y="4629150"/>
            <a:ext cx="1924050" cy="666750"/>
          </a:xfrm>
          <a:prstGeom xmlns:a="http://schemas.openxmlformats.org/drawingml/2006/main" prst="rect">
            <a:avLst/>
          </a:prstGeom>
        </p:spPr>
      </p:pic>
      <p:sp>
        <p:nvSpPr>
          <p:cNvPr id="17" name="weekday-examples">
            <a:extLst xmlns:a="http://schemas.openxmlformats.org/drawingml/2006/main">
              <a:ext uri="{FF2B5EF4-FFF2-40B4-BE49-F238E27FC236}">
                <a16:creationId xmlns:a16="http://schemas.microsoft.com/office/drawing/2014/main" id="{AF79FAFC-09AC-447F-9D0C-0DD5DAA1AAC7}"/>
              </a:ext>
            </a:extLst>
          </p:cNvPr>
          <p:cNvSpPr>
            <a:spLocks xmlns:a="http://schemas.openxmlformats.org/drawingml/2006/main" noGrp="1"/>
          </p:cNvSpPr>
          <p:nvPr/>
        </p:nvSpPr>
        <p:spPr>
          <a:xfrm xmlns:a="http://schemas.openxmlformats.org/drawingml/2006/main">
            <a:off x="9553575" y="463867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533"/>
          </a:bodyPr>
          <a:lstStyle xmlns:a="http://schemas.openxmlformats.org/drawingml/2006/main"/>
          <a:p xmlns:a="http://schemas.openxmlformats.org/drawingml/2006/main">
            <a:pPr algn="l">
              <a:lnSpc>
                <a:spcPct val="115000"/>
              </a:lnSpc>
              <a:buNone/>
              <a:defRPr sz="1425" b="1">
                <a:solidFill>
                  <a:srgbClr val="0E2841"/>
                </a:solidFill>
                <a:latin typeface="Malgun Gothic"/>
                <a:ea typeface="Malgun Gothic"/>
                <a:cs typeface="Malgun Gothic"/>
              </a:defRPr>
            </a:pPr>
            <a:r>
              <a:rPr sz="1425" b="1">
                <a:solidFill>
                  <a:srgbClr val="0E2841"/>
                </a:solidFill>
                <a:latin typeface="Malgun Gothic"/>
                <a:ea typeface="Malgun Gothic"/>
                <a:cs typeface="Malgun Gothic"/>
              </a:rPr>
              <a:t>음식점  일요일 1.53</a:t>
            </a:r>
          </a:p>
          <a:p xmlns:a="http://schemas.openxmlformats.org/drawingml/2006/main">
            <a:pPr algn="l">
              <a:lnSpc>
                <a:spcPct val="115000"/>
              </a:lnSpc>
              <a:buNone/>
              <a:defRPr sz="1425" b="1">
                <a:solidFill>
                  <a:srgbClr val="0E2841"/>
                </a:solidFill>
                <a:latin typeface="Malgun Gothic"/>
                <a:ea typeface="Malgun Gothic"/>
                <a:cs typeface="Malgun Gothic"/>
              </a:defRPr>
            </a:pPr>
            <a:r>
              <a:rPr sz="1425" b="1">
                <a:solidFill>
                  <a:srgbClr val="0E2841"/>
                </a:solidFill>
                <a:latin typeface="Malgun Gothic"/>
                <a:ea typeface="Malgun Gothic"/>
                <a:cs typeface="Malgun Gothic"/>
              </a:rPr>
              <a:t>학원  화요일 1.40</a:t>
            </a:r>
          </a:p>
        </p:txBody>
      </p:sp>
      <p:sp>
        <p:nvSpPr>
          <p:cNvPr id="18" name="weekday-note">
            <a:extLst xmlns:a="http://schemas.openxmlformats.org/drawingml/2006/main">
              <a:ext uri="{FF2B5EF4-FFF2-40B4-BE49-F238E27FC236}">
                <a16:creationId xmlns:a16="http://schemas.microsoft.com/office/drawing/2014/main" id="{031E6A57-FA7A-4062-BCBE-8AB2C0E414E9}"/>
              </a:ext>
            </a:extLst>
          </p:cNvPr>
          <p:cNvSpPr>
            <a:spLocks xmlns:a="http://schemas.openxmlformats.org/drawingml/2006/main" noGrp="1"/>
          </p:cNvSpPr>
          <p:nvPr/>
        </p:nvSpPr>
        <p:spPr>
          <a:xfrm xmlns:a="http://schemas.openxmlformats.org/drawingml/2006/main">
            <a:off x="9553575" y="51054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6788"/>
          </a:bodyPr>
          <a:lstStyle xmlns:a="http://schemas.openxmlformats.org/drawingml/2006/main"/>
          <a:p xmlns:a="http://schemas.openxmlformats.org/drawingml/2006/main">
            <a:pPr algn="l">
              <a:lnSpc>
                <a:spcPct val="110000"/>
              </a:lnSpc>
              <a:buNone/>
              <a:defRPr sz="975" b="0">
                <a:solidFill>
                  <a:srgbClr val="647182"/>
                </a:solidFill>
                <a:latin typeface="Malgun Gothic"/>
                <a:ea typeface="Malgun Gothic"/>
                <a:cs typeface="Malgun Gothic"/>
              </a:defRPr>
            </a:pPr>
            <a:r>
              <a:rPr sz="975" b="0">
                <a:solidFill>
                  <a:srgbClr val="647182"/>
                </a:solidFill>
                <a:latin typeface="Malgun Gothic"/>
                <a:ea typeface="Malgun Gothic"/>
                <a:cs typeface="Malgun Gothic"/>
              </a:rPr>
              <a:t>일평균=1.0 · 상위 8개 · 점포 피크 아님</a:t>
            </a:r>
          </a:p>
        </p:txBody>
      </p:sp>
      <p:sp>
        <p:nvSpPr>
          <p:cNvPr id="19" name="conclusion-bg">
            <a:extLst xmlns:a="http://schemas.openxmlformats.org/drawingml/2006/main">
              <a:ext uri="{FF2B5EF4-FFF2-40B4-BE49-F238E27FC236}">
                <a16:creationId xmlns:a16="http://schemas.microsoft.com/office/drawing/2014/main" id="{2128423C-778E-4FE5-AC41-903A3ED6CC07}"/>
              </a:ext>
            </a:extLst>
          </p:cNvPr>
          <p:cNvSpPr>
            <a:spLocks xmlns:a="http://schemas.openxmlformats.org/drawingml/2006/main" noGrp="1"/>
          </p:cNvSpPr>
          <p:nvPr/>
        </p:nvSpPr>
        <p:spPr>
          <a:xfrm xmlns:a="http://schemas.openxmlformats.org/drawingml/2006/main">
            <a:off x="457200" y="5476875"/>
            <a:ext cx="11182350" cy="838200"/>
          </a:xfrm>
          <a:prstGeom xmlns:a="http://schemas.openxmlformats.org/drawingml/2006/main" prst="roundRect">
            <a:avLst>
              <a:gd name="adj" fmla="val 11111"/>
            </a:avLst>
          </a:prstGeom>
          <a:solidFill xmlns:a="http://schemas.openxmlformats.org/drawingml/2006/main">
            <a:srgbClr val="EEF3FC"/>
          </a:solidFill>
          <a:ln xmlns:a="http://schemas.openxmlformats.org/drawingml/2006/main" w="0">
            <a:noFill/>
          </a:ln>
        </p:spPr>
      </p:sp>
      <p:sp>
        <p:nvSpPr>
          <p:cNvPr id="20" name="conclusion-accent">
            <a:extLst xmlns:a="http://schemas.openxmlformats.org/drawingml/2006/main">
              <a:ext uri="{FF2B5EF4-FFF2-40B4-BE49-F238E27FC236}">
                <a16:creationId xmlns:a16="http://schemas.microsoft.com/office/drawing/2014/main" id="{83B34CB2-9FB9-4625-8CDB-5130439CC4CD}"/>
              </a:ext>
            </a:extLst>
          </p:cNvPr>
          <p:cNvSpPr>
            <a:spLocks xmlns:a="http://schemas.openxmlformats.org/drawingml/2006/main" noGrp="1"/>
          </p:cNvSpPr>
          <p:nvPr/>
        </p:nvSpPr>
        <p:spPr>
          <a:xfrm xmlns:a="http://schemas.openxmlformats.org/drawingml/2006/main">
            <a:off x="457200" y="5476875"/>
            <a:ext cx="76200" cy="838200"/>
          </a:xfrm>
          <a:prstGeom xmlns:a="http://schemas.openxmlformats.org/drawingml/2006/main" prst="rect">
            <a:avLst/>
          </a:prstGeom>
          <a:solidFill xmlns:a="http://schemas.openxmlformats.org/drawingml/2006/main">
            <a:srgbClr val="3357B8"/>
          </a:solidFill>
          <a:ln xmlns:a="http://schemas.openxmlformats.org/drawingml/2006/main" w="0">
            <a:noFill/>
          </a:ln>
        </p:spPr>
      </p:sp>
      <p:sp>
        <p:nvSpPr>
          <p:cNvPr id="21" name="conclusion-title">
            <a:extLst xmlns:a="http://schemas.openxmlformats.org/drawingml/2006/main">
              <a:ext uri="{FF2B5EF4-FFF2-40B4-BE49-F238E27FC236}">
                <a16:creationId xmlns:a16="http://schemas.microsoft.com/office/drawing/2014/main" id="{3F7EAB72-3A49-4FA2-BE0B-24D35D562A3C}"/>
              </a:ext>
            </a:extLst>
          </p:cNvPr>
          <p:cNvSpPr>
            <a:spLocks xmlns:a="http://schemas.openxmlformats.org/drawingml/2006/main" noGrp="1"/>
          </p:cNvSpPr>
          <p:nvPr/>
        </p:nvSpPr>
        <p:spPr>
          <a:xfrm xmlns:a="http://schemas.openxmlformats.org/drawingml/2006/main">
            <a:off x="723900" y="5562600"/>
            <a:ext cx="2714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350" b="1">
                <a:solidFill>
                  <a:srgbClr val="0E2841"/>
                </a:solidFill>
                <a:latin typeface="Malgun Gothic"/>
                <a:ea typeface="Malgun Gothic"/>
                <a:cs typeface="Malgun Gothic"/>
              </a:defRPr>
            </a:pPr>
            <a:r>
              <a:rPr sz="1350" b="1">
                <a:solidFill>
                  <a:srgbClr val="0E2841"/>
                </a:solidFill>
                <a:latin typeface="Malgun Gothic"/>
                <a:ea typeface="Malgun Gothic"/>
                <a:cs typeface="Malgun Gothic"/>
              </a:rPr>
              <a:t>전국 BSI 체감 방향 지속</a:t>
            </a:r>
          </a:p>
        </p:txBody>
      </p:sp>
      <p:sp>
        <p:nvSpPr>
          <p:cNvPr id="22" name="conclusion-body">
            <a:extLst xmlns:a="http://schemas.openxmlformats.org/drawingml/2006/main">
              <a:ext uri="{FF2B5EF4-FFF2-40B4-BE49-F238E27FC236}">
                <a16:creationId xmlns:a16="http://schemas.microsoft.com/office/drawing/2014/main" id="{FDA7AD1A-7956-4FA1-BB28-6FB64DFCC094}"/>
              </a:ext>
            </a:extLst>
          </p:cNvPr>
          <p:cNvSpPr>
            <a:spLocks xmlns:a="http://schemas.openxmlformats.org/drawingml/2006/main" noGrp="1"/>
          </p:cNvSpPr>
          <p:nvPr/>
        </p:nvSpPr>
        <p:spPr>
          <a:xfrm xmlns:a="http://schemas.openxmlformats.org/drawingml/2006/main">
            <a:off x="723900" y="5943600"/>
            <a:ext cx="10572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275" b="0">
                <a:solidFill>
                  <a:srgbClr val="1B2530"/>
                </a:solidFill>
                <a:latin typeface="Malgun Gothic"/>
                <a:ea typeface="Malgun Gothic"/>
                <a:cs typeface="Malgun Gothic"/>
              </a:defRPr>
            </a:pPr>
            <a:r>
              <a:rPr sz="1275" b="0">
                <a:solidFill>
                  <a:srgbClr val="1B2530"/>
                </a:solidFill>
                <a:latin typeface="Malgun Gothic"/>
                <a:ea typeface="Malgun Gothic"/>
                <a:cs typeface="Malgun Gothic"/>
              </a:rPr>
              <a:t>iM 파트너는 생성 POS·CCTV 익명 집계를 핵심으로, 업종·지역 집계를 보조 기준으로 활용하도록 설계했습니다</a:t>
            </a:r>
          </a:p>
        </p:txBody>
      </p:sp>
      <p:sp>
        <p:nvSpPr>
          <p:cNvPr id="23" name="source-footer">
            <a:extLst xmlns:a="http://schemas.openxmlformats.org/drawingml/2006/main">
              <a:ext uri="{FF2B5EF4-FFF2-40B4-BE49-F238E27FC236}">
                <a16:creationId xmlns:a16="http://schemas.microsoft.com/office/drawing/2014/main" id="{4D6DF6E6-150E-46E9-80CC-70EDAC8C9F64}"/>
              </a:ext>
            </a:extLst>
          </p:cNvPr>
          <p:cNvSpPr>
            <a:spLocks xmlns:a="http://schemas.openxmlformats.org/drawingml/2006/main" noGrp="1"/>
          </p:cNvSpPr>
          <p:nvPr/>
        </p:nvSpPr>
        <p:spPr>
          <a:xfrm xmlns:a="http://schemas.openxmlformats.org/drawingml/2006/main">
            <a:off x="476250" y="6410325"/>
            <a:ext cx="1114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0">
                <a:solidFill>
                  <a:srgbClr val="596779"/>
                </a:solidFill>
                <a:latin typeface="Malgun Gothic"/>
                <a:ea typeface="Malgun Gothic"/>
                <a:cs typeface="Malgun Gothic"/>
              </a:defRPr>
            </a:pPr>
            <a:r>
              <a:rPr sz="975" b="0">
                <a:solidFill>
                  <a:srgbClr val="596779"/>
                </a:solidFill>
                <a:latin typeface="Malgun Gothic"/>
                <a:ea typeface="Malgun Gothic"/>
                <a:cs typeface="Malgun Gothic"/>
              </a:rPr>
              <a:t>자료  인사이트_데이터 1.docx p.5, p.11, p.12  전국 BSI 2024.01~2026.05  제공 문서 수록 2025 대구 카드 집계 결과</a:t>
            </a:r>
          </a:p>
          <a:p xmlns:a="http://schemas.openxmlformats.org/drawingml/2006/main">
            <a:pPr algn="l">
              <a:lnSpc>
                <a:spcPct val="105000"/>
              </a:lnSpc>
              <a:buNone/>
              <a:defRPr sz="975" b="0">
                <a:solidFill>
                  <a:srgbClr val="596779"/>
                </a:solidFill>
                <a:latin typeface="Malgun Gothic"/>
                <a:ea typeface="Malgun Gothic"/>
                <a:cs typeface="Malgun Gothic"/>
              </a:defRPr>
            </a:pPr>
            <a:r>
              <a:rPr sz="975" b="0">
                <a:solidFill>
                  <a:srgbClr val="596779"/>
                </a:solidFill>
                <a:latin typeface="Malgun Gothic"/>
                <a:ea typeface="Malgun Gothic"/>
                <a:cs typeface="Malgun Gothic"/>
              </a:rPr>
              <a:t>주  BSI와 상대지수는 실제 증감률·금액·수익성이 아닙니다. 원본 CSV와 IPYNB가 없어 수치 재현 검증 전입니다.</a:t>
            </a:r>
          </a:p>
        </p:txBody>
      </p:sp>
      <p:sp>
        <p:nvSpPr>
          <p:cNvPr id="28" name="mapping-district">
            <a:extLst xmlns:a="http://schemas.openxmlformats.org/drawingml/2006/main">
              <a:ext uri="{FF2B5EF4-FFF2-40B4-BE49-F238E27FC236}">
                <a16:creationId xmlns:a16="http://schemas.microsoft.com/office/drawing/2014/main" id="{B6501292-D816-4EFA-87B1-53673E67BBB3}"/>
              </a:ext>
            </a:extLst>
          </p:cNvPr>
          <p:cNvSpPr>
            <a:spLocks xmlns:a="http://schemas.openxmlformats.org/drawingml/2006/main" noGrp="1"/>
          </p:cNvSpPr>
          <p:nvPr/>
        </p:nvSpPr>
        <p:spPr>
          <a:xfrm xmlns:a="http://schemas.openxmlformats.org/drawingml/2006/main">
            <a:off x="3857625" y="5562600"/>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350" b="1">
                <a:solidFill>
                  <a:srgbClr val="0E2841"/>
                </a:solidFill>
                <a:latin typeface="Malgun Gothic"/>
                <a:ea typeface="Malgun Gothic"/>
                <a:cs typeface="Malgun Gothic"/>
              </a:defRPr>
            </a:pPr>
            <a:r>
              <a:rPr sz="1350" b="1">
                <a:solidFill>
                  <a:srgbClr val="0E2841"/>
                </a:solidFill>
                <a:latin typeface="Malgun Gothic"/>
                <a:ea typeface="Malgun Gothic"/>
                <a:cs typeface="Malgun Gothic"/>
              </a:rPr>
              <a:t>구·군 상대지수  보조 비교 기준</a:t>
            </a:r>
          </a:p>
        </p:txBody>
      </p:sp>
      <p:sp>
        <p:nvSpPr>
          <p:cNvPr id="29" name="mapping-weekday">
            <a:extLst xmlns:a="http://schemas.openxmlformats.org/drawingml/2006/main">
              <a:ext uri="{FF2B5EF4-FFF2-40B4-BE49-F238E27FC236}">
                <a16:creationId xmlns:a16="http://schemas.microsoft.com/office/drawing/2014/main" id="{18536AD6-8B71-4C1B-A432-2F6DD4C654F0}"/>
              </a:ext>
            </a:extLst>
          </p:cNvPr>
          <p:cNvSpPr>
            <a:spLocks xmlns:a="http://schemas.openxmlformats.org/drawingml/2006/main" noGrp="1"/>
          </p:cNvSpPr>
          <p:nvPr/>
        </p:nvSpPr>
        <p:spPr>
          <a:xfrm xmlns:a="http://schemas.openxmlformats.org/drawingml/2006/main">
            <a:off x="7239000" y="5562600"/>
            <a:ext cx="4000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8000"/>
              </a:lnSpc>
              <a:buNone/>
              <a:defRPr sz="1350" b="1">
                <a:solidFill>
                  <a:srgbClr val="0E2841"/>
                </a:solidFill>
                <a:latin typeface="Malgun Gothic"/>
                <a:ea typeface="Malgun Gothic"/>
                <a:cs typeface="Malgun Gothic"/>
              </a:defRPr>
            </a:pPr>
            <a:r>
              <a:rPr sz="1350" b="1">
                <a:solidFill>
                  <a:srgbClr val="0E2841"/>
                </a:solidFill>
                <a:latin typeface="Malgun Gothic"/>
                <a:ea typeface="Malgun Gothic"/>
                <a:cs typeface="Malgun Gothic"/>
              </a:rPr>
              <a:t>요일 매출지수  행동 점검 시점</a:t>
            </a:r>
          </a:p>
        </p:txBody>
      </p:sp>
      <p:sp>
        <p:nvSpPr>
          <p:cNvPr id="30" name="mapping-divider-383">
            <a:extLst xmlns:a="http://schemas.openxmlformats.org/drawingml/2006/main">
              <a:ext uri="{FF2B5EF4-FFF2-40B4-BE49-F238E27FC236}">
                <a16:creationId xmlns:a16="http://schemas.microsoft.com/office/drawing/2014/main" id="{7A855800-2F7F-49AA-B7E5-2C95C11054B6}"/>
              </a:ext>
            </a:extLst>
          </p:cNvPr>
          <p:cNvSpPr>
            <a:spLocks xmlns:a="http://schemas.openxmlformats.org/drawingml/2006/main" noGrp="1"/>
          </p:cNvSpPr>
          <p:nvPr/>
        </p:nvSpPr>
        <p:spPr>
          <a:xfrm xmlns:a="http://schemas.openxmlformats.org/drawingml/2006/main">
            <a:off x="3648075" y="5572125"/>
            <a:ext cx="0" cy="247650"/>
          </a:xfrm>
          <a:prstGeom xmlns:a="http://schemas.openxmlformats.org/drawingml/2006/main" prst="line">
            <a:avLst/>
          </a:prstGeom>
          <a:noFill xmlns:a="http://schemas.openxmlformats.org/drawingml/2006/main"/>
          <a:ln xmlns:a="http://schemas.openxmlformats.org/drawingml/2006/main" w="9525">
            <a:solidFill>
              <a:srgbClr val="C9D3E2"/>
            </a:solidFill>
            <a:prstDash val="solid"/>
          </a:ln>
        </p:spPr>
      </p:sp>
      <p:sp>
        <p:nvSpPr>
          <p:cNvPr id="31" name="mapping-divider-739">
            <a:extLst xmlns:a="http://schemas.openxmlformats.org/drawingml/2006/main">
              <a:ext uri="{FF2B5EF4-FFF2-40B4-BE49-F238E27FC236}">
                <a16:creationId xmlns:a16="http://schemas.microsoft.com/office/drawing/2014/main" id="{14A2BEE9-9EDE-476A-9B03-1D4D3FB19AEB}"/>
              </a:ext>
            </a:extLst>
          </p:cNvPr>
          <p:cNvSpPr>
            <a:spLocks xmlns:a="http://schemas.openxmlformats.org/drawingml/2006/main" noGrp="1"/>
          </p:cNvSpPr>
          <p:nvPr/>
        </p:nvSpPr>
        <p:spPr>
          <a:xfrm xmlns:a="http://schemas.openxmlformats.org/drawingml/2006/main">
            <a:off x="7038975" y="5572125"/>
            <a:ext cx="0" cy="247650"/>
          </a:xfrm>
          <a:prstGeom xmlns:a="http://schemas.openxmlformats.org/drawingml/2006/main" prst="line">
            <a:avLst/>
          </a:prstGeom>
          <a:noFill xmlns:a="http://schemas.openxmlformats.org/drawingml/2006/main"/>
          <a:ln xmlns:a="http://schemas.openxmlformats.org/drawingml/2006/main" w="9525">
            <a:solidFill>
              <a:srgbClr val="C9D3E2"/>
            </a:solidFill>
            <a:prstDash val="solid"/>
          </a:ln>
        </p:spPr>
      </p:sp>
    </p:spTree>
    <p:extLst>
      <p:ext uri="{BB962C8B-B14F-4D97-AF65-F5344CB8AC3E}">
        <p14:creationId xmlns:p14="http://schemas.microsoft.com/office/powerpoint/2010/main" val="399383134"/>
      </p:ext>
    </p:extLst>
  </p:cSld>
</p:sld>
</file>

<file path=ppt/theme/theme1.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2026-09-08T12:40:48.1430000Z</dcterms:created>
  <dcterms:modified xsi:type="dcterms:W3CDTF">2026-09-08T12:40:48.1430000Z</dcterms:modified>
</coreProperties>
</file>